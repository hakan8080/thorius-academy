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Role of Inventory in Retail Profitability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6 / 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B8965A"/>
                </a:solidFill>
                <a:latin typeface="Calibri"/>
              </a:rPr>
              <a:t>[Unknown layout: numbered_grid]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Stock as Working Capital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7 / 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5720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cxnSp>
        <p:nvCxnSpPr>
          <p:cNvPr id="12" name="Connector 11"/>
          <p:cNvCxnSpPr/>
          <p:nvPr/>
        </p:nvCxnSpPr>
        <p:spPr>
          <a:xfrm>
            <a:off x="4265676.0" y="1920240"/>
            <a:ext cx="0.0" cy="37490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25112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4325112" y="219456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4325112" y="2788920"/>
            <a:ext cx="45720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9718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cxnSp>
        <p:nvCxnSpPr>
          <p:cNvPr id="17" name="Connector 16"/>
          <p:cNvCxnSpPr/>
          <p:nvPr/>
        </p:nvCxnSpPr>
        <p:spPr>
          <a:xfrm>
            <a:off x="8042148.0" y="1920240"/>
            <a:ext cx="0.0" cy="37490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01584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9" name="TextBox 18"/>
          <p:cNvSpPr txBox="1"/>
          <p:nvPr/>
        </p:nvSpPr>
        <p:spPr>
          <a:xfrm>
            <a:off x="8101584" y="219456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8101584" y="2788920"/>
            <a:ext cx="45720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29718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Cost of Overstock vs. Stockout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8 / 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5720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cxnSp>
        <p:nvCxnSpPr>
          <p:cNvPr id="12" name="Connector 11"/>
          <p:cNvCxnSpPr/>
          <p:nvPr/>
        </p:nvCxnSpPr>
        <p:spPr>
          <a:xfrm>
            <a:off x="4265676.0" y="1920240"/>
            <a:ext cx="0.0" cy="37490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25112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4325112" y="219456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5" name="Rectangle 14"/>
          <p:cNvSpPr/>
          <p:nvPr/>
        </p:nvSpPr>
        <p:spPr>
          <a:xfrm>
            <a:off x="4325112" y="2788920"/>
            <a:ext cx="45720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9718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cxnSp>
        <p:nvCxnSpPr>
          <p:cNvPr id="17" name="Connector 16"/>
          <p:cNvCxnSpPr/>
          <p:nvPr/>
        </p:nvCxnSpPr>
        <p:spPr>
          <a:xfrm>
            <a:off x="8042148.0" y="1920240"/>
            <a:ext cx="0.0" cy="37490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01584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19" name="TextBox 18"/>
          <p:cNvSpPr txBox="1"/>
          <p:nvPr/>
        </p:nvSpPr>
        <p:spPr>
          <a:xfrm>
            <a:off x="8101584" y="219456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  <p:sp>
        <p:nvSpPr>
          <p:cNvPr id="20" name="Rectangle 19"/>
          <p:cNvSpPr/>
          <p:nvPr/>
        </p:nvSpPr>
        <p:spPr>
          <a:xfrm>
            <a:off x="8101584" y="2788920"/>
            <a:ext cx="457200" cy="36576"/>
          </a:xfrm>
          <a:prstGeom prst="rect">
            <a:avLst/>
          </a:prstGeom>
          <a:solidFill>
            <a:srgbClr val="B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29718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Key Stakeholders in Stock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9 / 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B8965A"/>
                </a:solidFill>
                <a:latin typeface="Calibri"/>
              </a:rPr>
              <a:t>[Unknown layout: numbered_grid]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Retail Planning Cycle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10 / 67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749039"/>
            <a:ext cx="10728655" cy="0"/>
          </a:xfrm>
          <a:prstGeom prst="line">
            <a:avLst/>
          </a:prstGeom>
          <a:ln w="3175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5216" y="3602735"/>
            <a:ext cx="292608" cy="292608"/>
          </a:xfrm>
          <a:prstGeom prst="ellipse">
            <a:avLst/>
          </a:prstGeom>
          <a:solidFill>
            <a:srgbClr val="B896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731520.0" y="3520439"/>
            <a:ext cx="0.0" cy="914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" y="219455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B8965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" y="2651759"/>
            <a:ext cx="1417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" y="301751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1434" y="3602735"/>
            <a:ext cx="292608" cy="292608"/>
          </a:xfrm>
          <a:prstGeom prst="ellipse">
            <a:avLst/>
          </a:prstGeom>
          <a:solidFill>
            <a:srgbClr val="B896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307738.333333334" y="3886199"/>
            <a:ext cx="0.0" cy="914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99078" y="397763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B8965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9078" y="4434839"/>
            <a:ext cx="1417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9078" y="480059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37652" y="3602735"/>
            <a:ext cx="292608" cy="292608"/>
          </a:xfrm>
          <a:prstGeom prst="ellipse">
            <a:avLst/>
          </a:prstGeom>
          <a:solidFill>
            <a:srgbClr val="B896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883956.666666667" y="3520439"/>
            <a:ext cx="0.0" cy="914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75296" y="219455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B8965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5296" y="2651759"/>
            <a:ext cx="1417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5296" y="301751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13871" y="3602735"/>
            <a:ext cx="292608" cy="292608"/>
          </a:xfrm>
          <a:prstGeom prst="ellipse">
            <a:avLst/>
          </a:prstGeom>
          <a:solidFill>
            <a:srgbClr val="B8965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1460175.0" y="3886199"/>
            <a:ext cx="0.0" cy="9144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751515" y="397763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B8965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1515" y="4434839"/>
            <a:ext cx="1417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51515" y="4800599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atter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91695" cy="5623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Foundations — Key Takeaways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  <a:latin typeface="Calibri"/>
              </a:rPr>
              <a:t>Thorius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Page 11 /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